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83" r:id="rId2"/>
    <p:sldId id="257" r:id="rId3"/>
    <p:sldId id="282" r:id="rId4"/>
    <p:sldId id="285" r:id="rId5"/>
    <p:sldId id="264" r:id="rId6"/>
    <p:sldId id="278" r:id="rId7"/>
    <p:sldId id="289" r:id="rId8"/>
    <p:sldId id="286" r:id="rId9"/>
    <p:sldId id="296" r:id="rId10"/>
    <p:sldId id="287" r:id="rId11"/>
    <p:sldId id="288" r:id="rId12"/>
    <p:sldId id="290" r:id="rId13"/>
    <p:sldId id="295" r:id="rId14"/>
    <p:sldId id="291" r:id="rId15"/>
    <p:sldId id="292" r:id="rId16"/>
    <p:sldId id="293" r:id="rId17"/>
    <p:sldId id="294" r:id="rId18"/>
    <p:sldId id="280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91CF7-6E22-14BF-DB99-3894772A19DF}" v="65" dt="2026-04-21T05:09:31.452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m15-hub/RAG-Agent-for-DIP-Diet.git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517749507"/>
              </p:ext>
            </p:extLst>
          </p:nvPr>
        </p:nvGraphicFramePr>
        <p:xfrm>
          <a:off x="2212622" y="2449715"/>
          <a:ext cx="7728530" cy="217488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3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672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Faculty </a:t>
                      </a:r>
                      <a:r>
                        <a:rPr lang="en-US" sz="1800" u="none" strike="noStrike" cap="none" dirty="0"/>
                        <a:t>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1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/>
                        <a:t>Samreen</a:t>
                      </a:r>
                      <a:r>
                        <a:rPr lang="en-US" baseline="0" dirty="0" smtClean="0"/>
                        <a:t> Mohammed </a:t>
                      </a:r>
                      <a:r>
                        <a:rPr lang="en-US" baseline="0" dirty="0" err="1" smtClean="0"/>
                        <a:t>Basit</a:t>
                      </a:r>
                      <a:r>
                        <a:rPr lang="en-US" baseline="0" dirty="0" smtClean="0"/>
                        <a:t> Shaikh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qazisamreen15@gmail.com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8055672952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Aptos"/>
              </a:rPr>
              <a:t>Domain of  Project </a:t>
            </a:r>
            <a:r>
              <a:rPr lang="en-US" sz="2400" b="1" dirty="0">
                <a:latin typeface="Times New Roman" panose="02020603050405020304" pitchFamily="18" charset="0"/>
                <a:ea typeface="Aptos"/>
              </a:rPr>
              <a:t>–</a:t>
            </a:r>
            <a:r>
              <a:rPr lang="en-US" sz="2400" b="1" dirty="0">
                <a:latin typeface="Times New Roman" panose="02020603050405020304" pitchFamily="18" charset="0"/>
                <a:ea typeface="Aptos"/>
              </a:rPr>
              <a:t>Healthcare</a:t>
            </a:r>
            <a:endParaRPr lang="en-IN" sz="2400" b="1" dirty="0">
              <a:latin typeface="Times New Roman" panose="02020603050405020304" pitchFamily="18" charset="0"/>
              <a:ea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>
                <a:latin typeface="Times New Roman" panose="02020603050405020304" pitchFamily="18" charset="0"/>
                <a:ea typeface="Aptos"/>
              </a:rPr>
              <a:t>RAG Agent for DIP Diet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74133" y="884484"/>
            <a:ext cx="11288889" cy="5725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b="1" smtClean="0"/>
              <a:t>The </a:t>
            </a:r>
            <a:r>
              <a:rPr lang="en-IN" b="1" dirty="0"/>
              <a:t>Challenge</a:t>
            </a:r>
            <a:endParaRPr lang="en-IN" dirty="0"/>
          </a:p>
          <a:p>
            <a:pPr algn="just"/>
            <a:r>
              <a:rPr lang="en-IN" dirty="0"/>
              <a:t>Health-conscious individuals and nutritionists often struggle with scattered diet plans, food charts, and wellness guidelines. The </a:t>
            </a:r>
            <a:r>
              <a:rPr lang="en-IN" b="1" dirty="0"/>
              <a:t>DIP Diet (Disciplined &amp; Intelligent Plan)</a:t>
            </a:r>
            <a:r>
              <a:rPr lang="en-IN" dirty="0"/>
              <a:t> approach emphasizes natural foods and lifestyle discipline, but its resources—books, blogs, and expert advice—are fragmented and hard to personalize. The challenge is not just to retrieve diet information but to </a:t>
            </a:r>
            <a:r>
              <a:rPr lang="en-IN" b="1" dirty="0"/>
              <a:t>synthesize, personalize, and provide actionable dietary recommendations</a:t>
            </a:r>
            <a:r>
              <a:rPr lang="en-IN" dirty="0"/>
              <a:t>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IN" kern="100" dirty="0" smtClean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Build 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a </a:t>
            </a:r>
            <a:r>
              <a:rPr lang="en-IN" b="1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Vector Store RAG (Retrieval-Augmented Generation) Agent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 that serves as an intelligent diet assistant for DIP followers. The solution should:</a:t>
            </a:r>
            <a:endParaRPr lang="en-IN" kern="100" dirty="0">
              <a:latin typeface="Aptos"/>
              <a:ea typeface="Aptos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180340" algn="l"/>
              </a:tabLst>
            </a:pPr>
            <a:r>
              <a:rPr lang="en-IN" b="1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Ingest &amp; Index DIP Resources: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 Collect diet plans, nutrition guides, and related health documents, and store them in a vector database for semantic search.</a:t>
            </a:r>
            <a:endParaRPr lang="en-IN" kern="100" dirty="0">
              <a:latin typeface="Aptos"/>
              <a:ea typeface="Aptos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180340" algn="l"/>
              </a:tabLst>
            </a:pPr>
            <a:r>
              <a:rPr lang="en-IN" b="1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Enable Conversational Q&amp;A: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 Allow users to ask natural questions (e.g., </a:t>
            </a:r>
            <a:r>
              <a:rPr lang="en-IN" i="1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“What can I eat for breakfast in the DIP diet?”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) and get clear, personalized responses.</a:t>
            </a:r>
            <a:endParaRPr lang="en-IN" kern="100" dirty="0">
              <a:latin typeface="Aptos"/>
              <a:ea typeface="Aptos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180340" algn="l"/>
              </a:tabLst>
            </a:pPr>
            <a:r>
              <a:rPr lang="en-IN" b="1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Create a Personalized &amp; Agentic Layer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: Adapt diet suggestions based on user profile, lifestyle, medical conditions, or fitness goals while recommending food substitutions.</a:t>
            </a:r>
            <a:endParaRPr lang="en-IN" kern="100" dirty="0">
              <a:latin typeface="Aptos"/>
              <a:ea typeface="Aptos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180340" algn="l"/>
              </a:tabLst>
            </a:pPr>
            <a:r>
              <a:rPr lang="en-IN" b="1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Visualize Diet Guidance:</a:t>
            </a:r>
            <a:r>
              <a:rPr lang="en-IN" kern="100" dirty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 Provide a clean dashboard with daily/weekly meal plans, nutrition breakdown, and lifestyle tips to help users stay disciplined with DIP</a:t>
            </a:r>
            <a:r>
              <a:rPr lang="en-IN" kern="100" dirty="0" smtClean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.</a:t>
            </a:r>
            <a:endParaRPr lang="en-IN" kern="100" dirty="0" smtClean="0">
              <a:latin typeface="Aptos"/>
              <a:ea typeface="Aptos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 smtClean="0"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Tech Stack (Mandatory)</a:t>
            </a:r>
            <a:endParaRPr lang="en-IN" kern="100" dirty="0" smtClean="0">
              <a:latin typeface="Aptos"/>
              <a:ea typeface="Aptos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IBM </a:t>
            </a:r>
            <a:r>
              <a:rPr lang="en-IN" kern="1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Langflow</a:t>
            </a:r>
            <a:r>
              <a:rPr lang="en-IN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/ IBM Orchestrate + IBM Models</a:t>
            </a:r>
            <a:endParaRPr lang="en-IN" kern="100" dirty="0" smtClean="0">
              <a:latin typeface="Aptos"/>
              <a:ea typeface="Aptos"/>
              <a:cs typeface="Arial" panose="020B0604020202020204" pitchFamily="34" charset="0"/>
            </a:endParaRPr>
          </a:p>
          <a:p>
            <a:pPr fontAlgn="base"/>
            <a:endParaRPr lang="en-US" dirty="0" smtClean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42844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r>
              <a:rPr lang="en-US" sz="2400" b="1" dirty="0" smtClean="0"/>
              <a:t>- </a:t>
            </a:r>
            <a:r>
              <a:rPr lang="en-IN" sz="2400" b="1" dirty="0"/>
              <a:t>RAG Agent for DIP </a:t>
            </a:r>
            <a:r>
              <a:rPr lang="en-IN" sz="2400" b="1" dirty="0" smtClean="0"/>
              <a:t>Diet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 b="1" dirty="0"/>
              <a:t>Proposed Solution: DIP Smart Nutrition Assistant</a:t>
            </a:r>
          </a:p>
          <a:p>
            <a:pPr algn="just"/>
            <a:endParaRPr sz="2000" dirty="0"/>
          </a:p>
          <a:p>
            <a:pPr algn="just"/>
            <a:r>
              <a:rPr sz="2000" dirty="0"/>
              <a:t>A Vector Store RAG Agent built using IBM </a:t>
            </a:r>
            <a:r>
              <a:rPr sz="2000" dirty="0" err="1"/>
              <a:t>Langflow</a:t>
            </a:r>
            <a:r>
              <a:rPr sz="2000" dirty="0"/>
              <a:t>, IBM Orchestrate and IBM Granite Models.</a:t>
            </a:r>
          </a:p>
          <a:p>
            <a:pPr algn="just"/>
            <a:endParaRPr sz="2000" dirty="0"/>
          </a:p>
          <a:p>
            <a:pPr algn="just"/>
            <a:r>
              <a:rPr sz="2000" dirty="0"/>
              <a:t>• Ingests DIP diet books, blogs, meal plans and nutrition guides.</a:t>
            </a:r>
          </a:p>
          <a:p>
            <a:pPr algn="just"/>
            <a:r>
              <a:rPr sz="2000" dirty="0"/>
              <a:t>• Creates </a:t>
            </a:r>
            <a:r>
              <a:rPr sz="2000" dirty="0" err="1"/>
              <a:t>embeddings</a:t>
            </a:r>
            <a:r>
              <a:rPr sz="2000" dirty="0"/>
              <a:t> and stores them in a Vector Database (FAISS/Chroma).</a:t>
            </a:r>
          </a:p>
          <a:p>
            <a:pPr algn="just"/>
            <a:r>
              <a:rPr sz="2000" dirty="0"/>
              <a:t>• Retrieves relevant diet knowledge using RAG.</a:t>
            </a:r>
          </a:p>
          <a:p>
            <a:pPr algn="just"/>
            <a:r>
              <a:rPr sz="2000" dirty="0"/>
              <a:t>• Generates personalized meal recommendations based on age, lifestyle, health conditions and fitness goals.</a:t>
            </a:r>
          </a:p>
          <a:p>
            <a:pPr algn="just"/>
            <a:r>
              <a:rPr sz="2000" dirty="0"/>
              <a:t>• Provides food substitutions and wellness tips.</a:t>
            </a:r>
          </a:p>
          <a:p>
            <a:pPr algn="just"/>
            <a:r>
              <a:rPr sz="2000" dirty="0"/>
              <a:t>• Supports conversational Q&amp;A and multilingual interaction.</a:t>
            </a:r>
          </a:p>
          <a:p>
            <a:pPr algn="just"/>
            <a:r>
              <a:rPr sz="2000" dirty="0"/>
              <a:t>• Dashboard visualizes daily meal plans, nutrition breakdown and progress tracking.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 b="1" dirty="0"/>
              <a:t>Role of Agentic AI in the Solution</a:t>
            </a:r>
          </a:p>
          <a:p>
            <a:pPr algn="just"/>
            <a:endParaRPr sz="2000" dirty="0"/>
          </a:p>
          <a:p>
            <a:pPr algn="just"/>
            <a:r>
              <a:rPr sz="2000" dirty="0"/>
              <a:t>Agentic AI enables autonomous decision making and collaboration among specialized agents.</a:t>
            </a:r>
          </a:p>
          <a:p>
            <a:pPr algn="just"/>
            <a:endParaRPr sz="2000" dirty="0"/>
          </a:p>
          <a:p>
            <a:pPr algn="just"/>
            <a:r>
              <a:rPr sz="2000" dirty="0"/>
              <a:t>• Nutrition Knowledge Agent retrieves verified DIP information.</a:t>
            </a:r>
          </a:p>
          <a:p>
            <a:pPr algn="just"/>
            <a:r>
              <a:rPr sz="2000" dirty="0"/>
              <a:t>• Diet Planner Agent generates personalized meal plans.</a:t>
            </a:r>
          </a:p>
          <a:p>
            <a:pPr algn="just"/>
            <a:r>
              <a:rPr sz="2000" dirty="0"/>
              <a:t>• Food Substitute Agent recommends alternatives.</a:t>
            </a:r>
          </a:p>
          <a:p>
            <a:pPr algn="just"/>
            <a:r>
              <a:rPr sz="2000" dirty="0"/>
              <a:t>• Wellness Coach Agent provides hydration, sleep and activity guidance.</a:t>
            </a:r>
          </a:p>
          <a:p>
            <a:pPr algn="just"/>
            <a:r>
              <a:rPr sz="2000" dirty="0"/>
              <a:t>• Agents continuously adapt recommendations using user feedback and goals.</a:t>
            </a:r>
          </a:p>
          <a:p>
            <a:pPr algn="just"/>
            <a:endParaRPr sz="2000" dirty="0"/>
          </a:p>
          <a:p>
            <a:pPr algn="just"/>
            <a:r>
              <a:rPr sz="2000" dirty="0"/>
              <a:t>The result is a proactive digital nutrition assistant instead of a static </a:t>
            </a:r>
            <a:r>
              <a:rPr sz="2000" dirty="0" err="1"/>
              <a:t>chatbot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8277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IBM </a:t>
            </a:r>
            <a:r>
              <a:rPr lang="en-US" sz="2000" b="1" dirty="0"/>
              <a:t>Cloud </a:t>
            </a:r>
            <a:r>
              <a:rPr lang="en-US" sz="2000" dirty="0"/>
              <a:t>– It provides the infrastructure to build, deploy, and scale the Nutrition Agent efficiently. IBM Cloud enables a </a:t>
            </a:r>
            <a:r>
              <a:rPr lang="en-US" sz="2000" b="1" dirty="0"/>
              <a:t>reliable, secure, and scalable environment</a:t>
            </a:r>
            <a:r>
              <a:rPr lang="en-US" sz="20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RAG– </a:t>
            </a:r>
            <a:r>
              <a:rPr lang="en-US" sz="2000" dirty="0"/>
              <a:t>RAG to </a:t>
            </a:r>
            <a:r>
              <a:rPr lang="en-US" sz="2000" b="1" dirty="0"/>
              <a:t>fetch real data first, then generate intelligent answers</a:t>
            </a:r>
            <a:r>
              <a:rPr lang="en-US" sz="20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Watsonx.ai - </a:t>
            </a:r>
            <a:r>
              <a:rPr lang="en-US" sz="2000" dirty="0"/>
              <a:t>For model deployment, </a:t>
            </a:r>
            <a:r>
              <a:rPr lang="en-US" sz="2000" dirty="0" err="1"/>
              <a:t>embeddings</a:t>
            </a:r>
            <a:r>
              <a:rPr lang="en-US" sz="2000" dirty="0"/>
              <a:t>, and AI </a:t>
            </a:r>
            <a:r>
              <a:rPr lang="en-US" sz="2000" dirty="0" smtClean="0"/>
              <a:t>governance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DIP Diet RAG Knowledge </a:t>
            </a:r>
            <a:r>
              <a:rPr lang="en-IN" b="1" dirty="0" smtClean="0"/>
              <a:t>Base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indent="-514350"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Diet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Principles</a:t>
            </a:r>
          </a:p>
          <a:p>
            <a:pPr marL="628650" indent="-514350">
              <a:buFont typeface="Arial"/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indent="-514350">
              <a:buFont typeface="Arial"/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Foods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Avoid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indent="-514350">
              <a:buFont typeface="Arial"/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Disease-Specific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Guidance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indent="-514350">
              <a:buFont typeface="Arial"/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Substitutions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indent="-514350">
              <a:buFont typeface="Arial"/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Lifestyle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indent="-514350">
              <a:buFont typeface="Arial"/>
              <a:buAutoNum type="arabicPeriod"/>
            </a:pP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Queries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8650" indent="-514350">
              <a:buAutoNum type="arabicPeriod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6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2745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DIP-specific RAG knowledge base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Multi-Agent Architecture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Personalized recommendations using profile data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Food substitution intelligence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Nutrition and wellness dashboard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Multilingual support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Explainable and trustworthy responses using RAG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Enterprise-ready deployment on IBM ecosystem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err="1" smtClean="0">
                <a:sym typeface="Times New Roman"/>
              </a:rPr>
              <a:t>Github</a:t>
            </a:r>
            <a:r>
              <a:rPr lang="en-US" b="1" dirty="0" smtClean="0">
                <a:sym typeface="Times New Roman"/>
              </a:rPr>
              <a:t> Link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github.com/sam15-hub/RAG-Agent-for-DIP-Diet.git</a:t>
            </a:r>
            <a:endParaRPr lang="en-IN" dirty="0" smtClean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69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BEHAVIOR OF THE </a:t>
            </a:r>
            <a:r>
              <a:rPr lang="en-IN" b="1" dirty="0" smtClean="0"/>
              <a:t>SYSTEM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33778" y="1475668"/>
            <a:ext cx="10620022" cy="4631619"/>
          </a:xfrm>
        </p:spPr>
        <p:txBody>
          <a:bodyPr>
            <a:normAutofit fontScale="62500" lnSpcReduction="20000"/>
          </a:bodyPr>
          <a:lstStyle/>
          <a:p>
            <a:r>
              <a:rPr lang="en-IN" dirty="0" smtClean="0"/>
              <a:t>The </a:t>
            </a:r>
            <a:r>
              <a:rPr lang="en-IN" dirty="0"/>
              <a:t>RAG Agent for DIP Diet acts as an intelligent digital nutrition assistant that retrieves, </a:t>
            </a:r>
            <a:r>
              <a:rPr lang="en-IN" dirty="0" err="1"/>
              <a:t>analyzes</a:t>
            </a:r>
            <a:r>
              <a:rPr lang="en-IN" dirty="0"/>
              <a:t>, and personalizes dietary recommendations based on DIP (Disciplined &amp; Intelligent Plan) principles.</a:t>
            </a:r>
            <a:endParaRPr lang="en-IN" sz="2400" dirty="0"/>
          </a:p>
          <a:p>
            <a:pPr lvl="0"/>
            <a:r>
              <a:rPr lang="en-IN" dirty="0"/>
              <a:t>User Interaction</a:t>
            </a:r>
            <a:br>
              <a:rPr lang="en-IN" dirty="0"/>
            </a:br>
            <a:r>
              <a:rPr lang="en-IN" dirty="0"/>
              <a:t>• The user enters a query such as:</a:t>
            </a:r>
            <a:endParaRPr lang="en-IN" sz="2400" dirty="0"/>
          </a:p>
          <a:p>
            <a:pPr lvl="1"/>
            <a:r>
              <a:rPr lang="en-IN" dirty="0"/>
              <a:t>"What can I eat for breakfast?"</a:t>
            </a:r>
            <a:endParaRPr lang="en-IN" sz="2000" dirty="0"/>
          </a:p>
          <a:p>
            <a:pPr lvl="1"/>
            <a:r>
              <a:rPr lang="en-IN" dirty="0"/>
              <a:t>"Suggest a diet plan for diabetes."</a:t>
            </a:r>
            <a:endParaRPr lang="en-IN" sz="2000" dirty="0"/>
          </a:p>
          <a:p>
            <a:pPr lvl="1"/>
            <a:r>
              <a:rPr lang="en-IN" dirty="0"/>
              <a:t>"Give an alternative to sprouts."</a:t>
            </a:r>
            <a:br>
              <a:rPr lang="en-IN" dirty="0"/>
            </a:br>
            <a:r>
              <a:rPr lang="en-IN" dirty="0"/>
              <a:t>• The system accepts user profile information including age, weight, health conditions, dietary preferences, and fitness goals.</a:t>
            </a:r>
            <a:endParaRPr lang="en-IN" sz="2000" dirty="0"/>
          </a:p>
          <a:p>
            <a:pPr lvl="0"/>
            <a:r>
              <a:rPr lang="en-IN" dirty="0"/>
              <a:t>Knowledge Retrieval</a:t>
            </a:r>
            <a:br>
              <a:rPr lang="en-IN" dirty="0"/>
            </a:br>
            <a:r>
              <a:rPr lang="en-IN" dirty="0"/>
              <a:t>• The query is converted into </a:t>
            </a:r>
            <a:r>
              <a:rPr lang="en-IN" dirty="0" err="1"/>
              <a:t>embeddings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• The system searches the vector database containing DIP diet resources.</a:t>
            </a:r>
            <a:br>
              <a:rPr lang="en-IN" dirty="0"/>
            </a:br>
            <a:r>
              <a:rPr lang="en-IN" dirty="0"/>
              <a:t>• Relevant diet information is retrieved using semantic search.</a:t>
            </a:r>
            <a:endParaRPr lang="en-IN" sz="2400" dirty="0"/>
          </a:p>
          <a:p>
            <a:pPr lvl="0"/>
            <a:r>
              <a:rPr lang="en-IN" dirty="0"/>
              <a:t>Context Understanding</a:t>
            </a:r>
            <a:br>
              <a:rPr lang="en-IN" dirty="0"/>
            </a:br>
            <a:r>
              <a:rPr lang="en-IN" dirty="0"/>
              <a:t>• IBM Granite </a:t>
            </a:r>
            <a:r>
              <a:rPr lang="en-IN" dirty="0" err="1"/>
              <a:t>analyzes</a:t>
            </a:r>
            <a:r>
              <a:rPr lang="en-IN" dirty="0"/>
              <a:t> both the retrieved information and the user's profile.</a:t>
            </a:r>
            <a:br>
              <a:rPr lang="en-IN" dirty="0"/>
            </a:br>
            <a:r>
              <a:rPr lang="en-IN" dirty="0"/>
              <a:t>• The system understands the user's nutritional requirements and health objectives.</a:t>
            </a:r>
            <a:endParaRPr lang="en-IN" sz="2400" dirty="0"/>
          </a:p>
          <a:p>
            <a:pPr lvl="0"/>
            <a:r>
              <a:rPr lang="en-IN" dirty="0"/>
              <a:t>Personalized Recommendation</a:t>
            </a:r>
            <a:br>
              <a:rPr lang="en-IN" dirty="0"/>
            </a:br>
            <a:r>
              <a:rPr lang="en-IN" dirty="0"/>
              <a:t>• The Diet Planning Agent generates customized meal plans.</a:t>
            </a:r>
            <a:br>
              <a:rPr lang="en-IN" dirty="0"/>
            </a:br>
            <a:r>
              <a:rPr lang="en-IN" dirty="0"/>
              <a:t>• The Food Substitution Agent suggests alternatives when a food item is unavailable or disliked.</a:t>
            </a:r>
            <a:br>
              <a:rPr lang="en-IN" dirty="0"/>
            </a:br>
            <a:r>
              <a:rPr lang="en-IN" dirty="0"/>
              <a:t>• The Wellness Coach Agent provides hydration, exercise, and lifestyle recommendations.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59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60777" y="516113"/>
            <a:ext cx="10631311" cy="554601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dirty="0"/>
              <a:t>Response Generation</a:t>
            </a:r>
            <a:br>
              <a:rPr lang="en-IN" dirty="0"/>
            </a:br>
            <a:r>
              <a:rPr lang="en-IN" dirty="0"/>
              <a:t>• Watson Orchestrate coordinates all agents.</a:t>
            </a:r>
            <a:br>
              <a:rPr lang="en-IN" dirty="0"/>
            </a:br>
            <a:r>
              <a:rPr lang="en-IN" dirty="0"/>
              <a:t>• IBM Granite generates a clear, accurate, and personalized response.</a:t>
            </a:r>
            <a:br>
              <a:rPr lang="en-IN" dirty="0"/>
            </a:br>
            <a:r>
              <a:rPr lang="en-IN" dirty="0"/>
              <a:t>• Responses are based on retrieved knowledge rather than generic AI-generated content.</a:t>
            </a:r>
            <a:endParaRPr lang="en-IN" sz="2400" dirty="0"/>
          </a:p>
          <a:p>
            <a:pPr lvl="0"/>
            <a:r>
              <a:rPr lang="en-IN" dirty="0"/>
              <a:t>Dashboard Updates</a:t>
            </a:r>
            <a:br>
              <a:rPr lang="en-IN" dirty="0"/>
            </a:br>
            <a:r>
              <a:rPr lang="en-IN" dirty="0"/>
              <a:t>• Daily meal plans are displayed.</a:t>
            </a:r>
            <a:br>
              <a:rPr lang="en-IN" dirty="0"/>
            </a:br>
            <a:r>
              <a:rPr lang="en-IN" dirty="0"/>
              <a:t>• Nutritional information such as calories, protein, carbohydrates, </a:t>
            </a:r>
            <a:r>
              <a:rPr lang="en-IN" dirty="0" err="1"/>
              <a:t>fiber</a:t>
            </a:r>
            <a:r>
              <a:rPr lang="en-IN" dirty="0"/>
              <a:t>, and fat is shown.</a:t>
            </a:r>
            <a:br>
              <a:rPr lang="en-IN" dirty="0"/>
            </a:br>
            <a:r>
              <a:rPr lang="en-IN" dirty="0"/>
              <a:t>• Weekly progress and health recommendations are updated.</a:t>
            </a:r>
            <a:endParaRPr lang="en-IN" sz="2400" dirty="0"/>
          </a:p>
          <a:p>
            <a:pPr lvl="0"/>
            <a:r>
              <a:rPr lang="en-IN" dirty="0"/>
              <a:t>Continuous Adaptation</a:t>
            </a:r>
            <a:br>
              <a:rPr lang="en-IN" dirty="0"/>
            </a:br>
            <a:r>
              <a:rPr lang="en-IN" dirty="0"/>
              <a:t>• The system adapts recommendations according to user feedback and changing goals.</a:t>
            </a:r>
            <a:br>
              <a:rPr lang="en-IN" dirty="0"/>
            </a:br>
            <a:r>
              <a:rPr lang="en-IN" dirty="0"/>
              <a:t>• New diet documents can be added to the knowledge base without retraining the model.</a:t>
            </a:r>
            <a:endParaRPr lang="en-IN" sz="2400" dirty="0"/>
          </a:p>
          <a:p>
            <a:r>
              <a:rPr lang="en-IN" dirty="0"/>
              <a:t>Expected </a:t>
            </a:r>
            <a:r>
              <a:rPr lang="en-IN" dirty="0" err="1"/>
              <a:t>Behavior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• Accurate retrieval of DIP diet knowledge.</a:t>
            </a:r>
            <a:br>
              <a:rPr lang="en-IN" dirty="0"/>
            </a:br>
            <a:r>
              <a:rPr lang="en-IN" dirty="0"/>
              <a:t>• Personalized dietary recommendations.</a:t>
            </a:r>
            <a:br>
              <a:rPr lang="en-IN" dirty="0"/>
            </a:br>
            <a:r>
              <a:rPr lang="en-IN" dirty="0"/>
              <a:t>• Context-aware responses.</a:t>
            </a:r>
            <a:br>
              <a:rPr lang="en-IN" dirty="0"/>
            </a:br>
            <a:r>
              <a:rPr lang="en-IN" dirty="0"/>
              <a:t>• Healthy food substitution suggestions.</a:t>
            </a:r>
            <a:br>
              <a:rPr lang="en-IN" dirty="0"/>
            </a:br>
            <a:r>
              <a:rPr lang="en-IN" dirty="0"/>
              <a:t>• Lifestyle and wellness guidance.</a:t>
            </a:r>
            <a:br>
              <a:rPr lang="en-IN" dirty="0"/>
            </a:br>
            <a:r>
              <a:rPr lang="en-IN" dirty="0"/>
              <a:t>• Interactive conversational experience.</a:t>
            </a:r>
            <a:br>
              <a:rPr lang="en-IN" dirty="0"/>
            </a:br>
            <a:r>
              <a:rPr lang="en-IN" dirty="0"/>
              <a:t>• Reliable and scalable nutrition assistance using IBM Watson Orchestrate and Granite Models.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52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70844" y="524933"/>
            <a:ext cx="10205156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60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00" y="746567"/>
            <a:ext cx="11446000" cy="536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8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264356" y="502356"/>
            <a:ext cx="9663288" cy="58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13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67556" y="739422"/>
            <a:ext cx="9256888" cy="537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94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614312" y="897467"/>
            <a:ext cx="8963376" cy="50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6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67556" y="682978"/>
            <a:ext cx="9256888" cy="549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50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12801" y="1221715"/>
            <a:ext cx="10645422" cy="498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smtClean="0"/>
              <a:t>Wearable </a:t>
            </a:r>
            <a:r>
              <a:rPr lang="en-US" sz="2000" b="1" dirty="0"/>
              <a:t>Integration</a:t>
            </a:r>
            <a:r>
              <a:rPr lang="en-US" sz="2000" dirty="0"/>
              <a:t> – Connect with smartwatches and fitness trackers for real-time health monitoring.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Voice &amp; Multilingual Support</a:t>
            </a:r>
            <a:r>
              <a:rPr lang="en-US" sz="2000" dirty="0"/>
              <a:t> – Enable voice interaction and support multiple languages.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Image-Based Food Recognition</a:t>
            </a:r>
            <a:r>
              <a:rPr lang="en-US" sz="2000" dirty="0"/>
              <a:t> – Identify food items from images and provide nutritional analysis.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Personalized Disease Management</a:t>
            </a:r>
            <a:r>
              <a:rPr lang="en-US" sz="2000" dirty="0"/>
              <a:t> – Offer specialized diet plans for diabetes, hypertension, obesity, and heart conditions.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Smart Grocery Planning</a:t>
            </a:r>
            <a:r>
              <a:rPr lang="en-US" sz="2000" dirty="0"/>
              <a:t> – Automatically generate grocery lists based on meal plans.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Mobile Application</a:t>
            </a:r>
            <a:r>
              <a:rPr lang="en-US" sz="2000" dirty="0"/>
              <a:t> – Develop Android and iOS apps for meal tracking and reminders.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Predictive Health Analytics</a:t>
            </a:r>
            <a:r>
              <a:rPr lang="en-US" sz="2000" dirty="0"/>
              <a:t> – Use AI to predict nutritional deficiencies and health risks.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Healthcare Integration</a:t>
            </a:r>
            <a:r>
              <a:rPr lang="en-US" sz="2000" dirty="0"/>
              <a:t> – Connect with nutritionists, hospitals, and telemedicine platforms.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Future Vision</a:t>
            </a:r>
            <a:r>
              <a:rPr lang="en-US" sz="2000" b="1" dirty="0" smtClean="0"/>
              <a:t>:</a:t>
            </a:r>
          </a:p>
          <a:p>
            <a:pPr algn="just"/>
            <a:r>
              <a:rPr lang="en-US" sz="2000" dirty="0" smtClean="0"/>
              <a:t>     Transform </a:t>
            </a:r>
            <a:r>
              <a:rPr lang="en-US" sz="2000" dirty="0"/>
              <a:t>the DIP Diet RAG Agent into a comprehensive AI-powered digital nutrition </a:t>
            </a:r>
            <a:r>
              <a:rPr lang="en-US" sz="2000" dirty="0" smtClean="0"/>
              <a:t> </a:t>
            </a:r>
          </a:p>
          <a:p>
            <a:pPr algn="just"/>
            <a:r>
              <a:rPr lang="en-US" sz="2000" dirty="0"/>
              <a:t> </a:t>
            </a:r>
            <a:r>
              <a:rPr lang="en-US" sz="2000" dirty="0" smtClean="0"/>
              <a:t>    coach </a:t>
            </a:r>
            <a:r>
              <a:rPr lang="en-US" sz="2000" dirty="0"/>
              <a:t>that provides personalized, proactive, and real-time wellness guidance.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156" y="2543881"/>
            <a:ext cx="4151489" cy="1633008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  <a:endParaRPr lang="en-IN" sz="54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659</Words>
  <Application>Microsoft Office PowerPoint</Application>
  <PresentationFormat>Widescreen</PresentationFormat>
  <Paragraphs>101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Symbol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DIP Diet RAG Knowledge Base</vt:lpstr>
      <vt:lpstr>PowerPoint Presentation</vt:lpstr>
      <vt:lpstr>Github Link</vt:lpstr>
      <vt:lpstr>BEHAVIOR OF THE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admin</cp:lastModifiedBy>
  <cp:revision>58</cp:revision>
  <dcterms:created xsi:type="dcterms:W3CDTF">2025-07-08T05:06:56Z</dcterms:created>
  <dcterms:modified xsi:type="dcterms:W3CDTF">2026-06-17T09:42:05Z</dcterms:modified>
</cp:coreProperties>
</file>